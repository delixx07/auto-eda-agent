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AUDA — Automated EDA &amp; Preprocessing</a:t>
            </a:r>
          </a:p>
          <a:p>
            <a:pPr algn="ctr"/>
            <a:r>
              <a:rPr sz="2400" b="0" i="0">
                <a:solidFill>
                  <a:srgbClr val="6EC6F0"/>
                </a:solidFill>
                <a:latin typeface="Calibri"/>
              </a:rPr>
              <a:t>Can automated preprocessing beat manual EDA?</a:t>
            </a:r>
          </a:p>
          <a:p>
            <a:pPr algn="ctr"/>
            <a:r>
              <a:rPr sz="1600" b="0" i="1">
                <a:solidFill>
                  <a:srgbClr val="B8C6D8"/>
                </a:solidFill>
                <a:latin typeface="Calibri"/>
              </a:rPr>
              <a:t>A rigorous benchmark — and an honest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8A9BB5"/>
                </a:solidFill>
              </a:rPr>
              <a:t>Big Data Final Project   •   32 datasets   •   RandomForest + SVM   •   5 seeds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Problem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EDA + preprocessing is manual, slow, and depends on analyst skill.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AUDA automates it: profile data, handle missing values, detect anomalies, transform features — in one call.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E6DB8"/>
                </a:solidFill>
                <a:latin typeface="Calibri"/>
              </a:rPr>
              <a:t>•  Research question:</a:t>
            </a:r>
          </a:p>
          <a:p>
            <a:pPr lvl="1">
              <a:spcAft>
                <a:spcPts val="11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Can AUDA's automated preprocessing match or beat a human analyst?</a:t>
            </a:r>
          </a:p>
          <a:p>
            <a:pPr lvl="1">
              <a:spcAft>
                <a:spcPts val="11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Measured objectively: train ML models on AUDA- vs manually-preprocessed data, compare ROC-AUC.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7AE60"/>
                </a:solidFill>
                <a:latin typeface="Calibri"/>
              </a:rPr>
              <a:t>•  This talk: what AUDA does (in detail), how we tested it rigorously, the bugs we found, and the honest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AUDA Does — Overview</a:t>
            </a:r>
          </a:p>
          <a:p>
            <a:r>
              <a:rPr sz="1400" i="1">
                <a:solidFill>
                  <a:srgbClr val="B8C6D8"/>
                </a:solidFill>
              </a:rPr>
              <a:t>4 understanding stages + 1 transforming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286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Changes data?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1. Profile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Detect column types + numeric sub-types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No (understand)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2. Missing values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Impute or drop, per column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3. Anomalies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Detect outliers (IQR / Z / Isolation Forest)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No (report)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4. Recommend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Feature-engineering suggestions (rules + optional LLM)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No (report)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Feature Transformer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Encode, cap outliers, log1p, scale, select features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YES — fed to model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Only Stage 2 and the Feature Transformer change the data the model sees. The next slides detail each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Stage 1 — Profiling: Understand Every Column</a:t>
            </a:r>
          </a:p>
          <a:p>
            <a:r>
              <a:rPr sz="1400" i="1">
                <a:solidFill>
                  <a:srgbClr val="B8C6D8"/>
                </a:solidFill>
              </a:rPr>
              <a:t>profiler.py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E6DB8"/>
                </a:solidFill>
                <a:latin typeface="Calibri"/>
              </a:rPr>
              <a:t>•  Type-detection waterfall (first match wins):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B263B"/>
                </a:solidFill>
                <a:latin typeface="Calibri"/>
              </a:rPr>
              <a:t>–  Empty column → text   |   True/False → boolean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B263B"/>
                </a:solidFill>
                <a:latin typeface="Calibri"/>
              </a:rPr>
              <a:t>–  Real dates, or text where ≥80% parse as dates → datetime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B263B"/>
                </a:solidFill>
                <a:latin typeface="Calibri"/>
              </a:rPr>
              <a:t>–  Numbers: only {0,1} → boolean ;  ≤2 values → categorical ;  else → numeric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B263B"/>
                </a:solidFill>
                <a:latin typeface="Calibri"/>
              </a:rPr>
              <a:t>–  Text: ≤20 unique → categorical ;  avg length &gt;50 chars → text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E6DB8"/>
                </a:solidFill>
                <a:latin typeface="Calibri"/>
              </a:rPr>
              <a:t>•  Numeric sub-type (makes later steps smart):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B263B"/>
                </a:solidFill>
                <a:latin typeface="Calibri"/>
              </a:rPr>
              <a:t>–  id = unique &amp; sequential (PassengerId)  •  ordinal = integer ≤10 values (rating 1-5)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B263B"/>
                </a:solidFill>
                <a:latin typeface="Calibri"/>
              </a:rPr>
              <a:t>–  count = non-negative integers  •  continuous = floats / high-cardinality (income)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Why it matters: knowing a column is an ID or a 1-5 rating prevents harmful transforms later (e.g. don't log-scale a rating).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Stage 2 — Missing Values: One Decision per Column</a:t>
            </a:r>
          </a:p>
          <a:p>
            <a:r>
              <a:rPr sz="1400" i="1">
                <a:solidFill>
                  <a:srgbClr val="B8C6D8"/>
                </a:solidFill>
              </a:rPr>
              <a:t>missing_handler.py  (this step CHANGES the data)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132320"/>
              </a:tblGrid>
              <a:tr h="42291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No missing values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Do nothing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≥ 60% missing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Drop the whole column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&lt; 5% missing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Drop those few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Numeric (else)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KNN imputation (5 nearest rows) if ≤10,000 rows, otherwise median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Categorical / boolean (else)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Fill with the mode (most common value)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Datetime (else)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Linear interpolation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Text (else)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B263B"/>
                          </a:solidFill>
                          <a:latin typeface="Calibri"/>
                        </a:rPr>
                        <a:t>Fill with constant "Unknown"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Checked top-to-bottom. KNN looks at the 5 most similar rows to estimate a missing number — smarter than a flat mean.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Stage 3 — Anomaly Detection (report only)</a:t>
            </a:r>
          </a:p>
          <a:p>
            <a:r>
              <a:rPr sz="1400" i="1">
                <a:solidFill>
                  <a:srgbClr val="B8C6D8"/>
                </a:solidFill>
              </a:rPr>
              <a:t>anomaly_detector.py  •  does NOT change the data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Flags a value / row when…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IQR fence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outside [Q1 − 1.5·IQR ,  Q3 + 1.5·IQR]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Z-score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more than 3 standard deviations from the mean (|z| &gt; 3)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Isolation Forest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an ML model can 'isolate' the whole row easily across all numeric columns (needs ≥10 rows)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555F6B"/>
                </a:solidFill>
                <a:latin typeface="Calibri"/>
              </a:rPr>
              <a:t>•  This stage only reports counts — outlier *handling* happens in the transformer (Step 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Stage 4 — Feature Transformer: The Real Preprocessing</a:t>
            </a:r>
          </a:p>
          <a:p>
            <a:r>
              <a:rPr sz="1400" i="1">
                <a:solidFill>
                  <a:srgbClr val="B8C6D8"/>
                </a:solidFill>
              </a:rPr>
              <a:t>feature_transformer.py  •  8 ordered steps fed to the model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694944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Drop zero-variance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column has only one unique value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Drop near-constant categoricals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one value covers &gt; 95% of rows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Drop pure-ID columns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sequential IDs (+ all-unique integers on small data)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Frequency-encode high-cardinality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&gt; 20 unique → replace value with how often it appears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One-hot encode (SVM / linear only)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low-cardinality categories → avoids fake ordering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Cap outliers (IQR, k=5)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mild clip; skipped for ordinal / count / ID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log1p skewed continuous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skew&gt;1, all ≥0, wide range; skipped for ordinal/count/ID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Scale + feature budget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B263B"/>
                          </a:solidFill>
                          <a:latin typeface="Calibri"/>
                        </a:rPr>
                        <a:t>RobustScaler (SVM) / StandardScaler (linear) / none (tree); keep top-K by SelectKBest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Steps 6 &amp; 7 use the Stage-1 sub-types to avoid damaging ratings / counts / IDs.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One Transformer, Two Settings — RF vs SVM</a:t>
            </a:r>
          </a:p>
          <a:p>
            <a:r>
              <a:rPr sz="1400" i="1">
                <a:solidFill>
                  <a:srgbClr val="B8C6D8"/>
                </a:solidFill>
              </a:rPr>
              <a:t>The Feature Transformer runs for BOTH models — only the settings differ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0520" y="1325880"/>
            <a:ext cx="3840480" cy="731520"/>
          </a:xfrm>
          <a:prstGeom prst="roundRect">
            <a:avLst/>
          </a:prstGeom>
          <a:solidFill>
            <a:srgbClr val="2E6DB8"/>
          </a:solidFill>
          <a:ln>
            <a:solidFill>
              <a:srgbClr val="2E6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Clean data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(after Stages 1–2)</a:t>
            </a:r>
          </a:p>
        </p:txBody>
      </p:sp>
      <p:sp>
        <p:nvSpPr>
          <p:cNvPr id="5" name="Down Arrow 4"/>
          <p:cNvSpPr/>
          <p:nvPr/>
        </p:nvSpPr>
        <p:spPr>
          <a:xfrm>
            <a:off x="3108960" y="2240280"/>
            <a:ext cx="411480" cy="640080"/>
          </a:xfrm>
          <a:prstGeom prst="downArrow">
            <a:avLst/>
          </a:prstGeom>
          <a:solidFill>
            <a:srgbClr val="55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686800" y="2240280"/>
            <a:ext cx="411480" cy="640080"/>
          </a:xfrm>
          <a:prstGeom prst="downArrow">
            <a:avLst/>
          </a:prstGeom>
          <a:solidFill>
            <a:srgbClr val="55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120640" cy="1234440"/>
          </a:xfrm>
          <a:prstGeom prst="round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FeatureTransformer — TREE settings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encode • cap outliers • log1p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NO scaling · NO one-hot · NO feature cap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3063240"/>
            <a:ext cx="5120640" cy="1234440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FeatureTransformer — KERNEL settings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encode • cap outliers • log1p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+ scaling · + one-hot · + feature cap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8960" y="4434840"/>
            <a:ext cx="411480" cy="548640"/>
          </a:xfrm>
          <a:prstGeom prst="downArrow">
            <a:avLst/>
          </a:prstGeom>
          <a:solidFill>
            <a:srgbClr val="55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686800" y="4434840"/>
            <a:ext cx="411480" cy="548640"/>
          </a:xfrm>
          <a:prstGeom prst="downArrow">
            <a:avLst/>
          </a:prstGeom>
          <a:solidFill>
            <a:srgbClr val="555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5920" y="5074920"/>
            <a:ext cx="3108960" cy="731520"/>
          </a:xfrm>
          <a:prstGeom prst="round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RandomForest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5074920"/>
            <a:ext cx="3108960" cy="731520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Same component, applied twice. RF skips scaling / one-hot / feature-cap (trees don't need them); SVM uses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Manual EDA (Baseline) vs AUDA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377440"/>
                <a:gridCol w="3291840"/>
                <a:gridCol w="3017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Weak baseline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Fair baseline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AUDA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Missing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Encode categories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ordinal (all)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one-hot + frequency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one-hot + frequency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Scaling (for SVM)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StandardScaler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RobustScaler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Outliers / skew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IQR cap + log1p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Drop ID / junk cols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Knows column meaning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yes (sub-types)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A FAIR baseline already does the two things that matter most — proper encoding + scaling. That is what AUDA must beat.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Experiment — How We Measure "Better"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For each dataset: 80/20 train-test split, stratified.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Preprocess two ways: Baseline  vs  AUDA.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Train BOTH RandomForest (tree) and SVM (kernel); compare ROC-AUC.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2E6DB8"/>
                </a:solidFill>
                <a:latin typeface="Calibri"/>
              </a:rPr>
              <a:t>•  Delta = AUDA AUC − Baseline AUC.   Positive = AUDA better.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27AE60"/>
                </a:solidFill>
                <a:latin typeface="Calibri"/>
              </a:rPr>
              <a:t>•  Rigor added during this project: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5 random seeds per dataset → mean ± std (not one lucky split)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Wilcoxon signed-rank test → is the difference statistically real?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Fair baseline + duplicate-dataset removal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Original Claim — and the Red Flags</a:t>
            </a:r>
          </a:p>
          <a:p>
            <a:r>
              <a:rPr sz="1400" i="1">
                <a:solidFill>
                  <a:srgbClr val="B8C6D8"/>
                </a:solidFill>
              </a:rPr>
              <a:t>"AUDA wins, 88% no-loss rate"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The first benchmark reported AUDA beating the baseline on most datasets.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•  But the result rested on four hidden problems: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Single train/test split — one lucky draw, no significance test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Rigged baseline — ordinal-encoded everything &amp; never scaled (sabotages SVM)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Duplicate datasets — same files counted twice, inflating results</a:t>
            </a:r>
          </a:p>
          <a:p>
            <a:pPr lvl="1">
              <a:spcAft>
                <a:spcPts val="9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Software bugs — scrambled labels &amp; dropped predictive columns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555F6B"/>
                </a:solidFill>
                <a:latin typeface="Calibri"/>
              </a:rPr>
              <a:t>•  "If a result can't survive scrutiny, it isn't a result."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Building Rigor #1 — Multi-Seed + Significance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One split = flipping a coin once. Change the seed, get a different score.</a:t>
            </a:r>
          </a:p>
          <a:p>
            <a:pPr lvl="1">
              <a:spcAft>
                <a:spcPts val="1100"/>
              </a:spcAft>
            </a:pPr>
            <a:r>
              <a:rPr sz="1600" b="0">
                <a:solidFill>
                  <a:srgbClr val="555F6B"/>
                </a:solidFill>
                <a:latin typeface="Calibri"/>
              </a:rPr>
              <a:t>–  Example (haberman, SVM): seed 42 → +0.10, seed 0 → +0.07. Same data!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E6DB8"/>
                </a:solidFill>
                <a:latin typeface="Calibri"/>
              </a:rPr>
              <a:t>•  Fix: run 5 seeds, report mean ± std → exposes the noise.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E6DB8"/>
                </a:solidFill>
                <a:latin typeface="Calibri"/>
              </a:rPr>
              <a:t>•  Wilcoxon signed-rank test across datasets → a p-value:</a:t>
            </a:r>
          </a:p>
          <a:p>
            <a:pPr lvl="1">
              <a:spcAft>
                <a:spcPts val="11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p &lt; 0.05 = real effect ;  p &gt; 0.05 = indistinguishable from baseline.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Result: AUDA's win-rates dropped once luck was averaged out — single-seed numbers were optimistic.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Building Rigor #2 — A Fair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B263B"/>
                </a:solidFill>
                <a:latin typeface="Calibri"/>
              </a:rPr>
              <a:t>•  The weak baseline never scaled features — fatal for SVM.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B263B"/>
                </a:solidFill>
                <a:latin typeface="Calibri"/>
              </a:rPr>
              <a:t>•  AUDA's big SVM 'wins' were just AUDA fixing that mistake.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E6DB8"/>
                </a:solidFill>
                <a:latin typeface="Calibri"/>
              </a:rPr>
              <a:t>•  Fair baseline scales + one-hot encodes, like a real analyst.</a:t>
            </a:r>
          </a:p>
        </p:txBody>
      </p:sp>
      <p:pic>
        <p:nvPicPr>
          <p:cNvPr id="5" name="Picture 4" descr="_c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697480"/>
            <a:ext cx="9144000" cy="473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As each artifact is removed, the SVM 'advantage' collapses from +0.05 to ~0.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Data Integrity — The Datasets Were Corrupted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•  Hash check revealed 4 DUPLICATE pairs masquerading as different datasets: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breast_cancer_wide = qsar_bio ;  arcene = colon_cancer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1B263B"/>
                </a:solidFill>
                <a:latin typeface="Calibri"/>
              </a:rPr>
              <a:t>–  ionosphere = musk ;  sonar = banknote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B263B"/>
                </a:solidFill>
                <a:latin typeface="Calibri"/>
              </a:rPr>
              <a:t>•  Worse — filenames lied: all four 'wide' files were breast-cancer data; 'sonar' actually held banknote data.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55F6B"/>
                </a:solidFill>
                <a:latin typeface="Calibri"/>
              </a:rPr>
              <a:t>•  Cause: the dataset downloader saved wrong / duplicate files.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7AE60"/>
                </a:solidFill>
                <a:latin typeface="Calibri"/>
              </a:rPr>
              <a:t>•  Fix: removed duplicates (39 → 35); benchmark now de-dups by content hash.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Three Real Bugs Found &amp; Fixed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206240"/>
                <a:gridCol w="32918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Bug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 fix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Label misalignment after row-drop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Training labels scrambled when AUDA dropped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flight_delay RF  −0.35 → 0.00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Missing target became a junk class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Models trained to predict "missing"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weatheraus RF  −0.13 → −0.01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Continuous floats dropped as 'IDs' (library)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Deleted predictive features on small data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B263B"/>
                          </a:solidFill>
                          <a:latin typeface="Calibri"/>
                        </a:rPr>
                        <a:t>vertebral RF  −0.056 → 0.00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Two were measurement bugs (made AUDA look worse); the third was a genuine AUDA library bug — now improved.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Results Journey — From False Claim to Truth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94560"/>
                <a:gridCol w="2743200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SVM mean Δ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Significant?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Reality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Original (single seed, weak baseline)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+0.051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— (no test)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anecdote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Multi-seed, weak baseline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+0.030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 (p=0.10)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 saturation off, deduplicated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+0.091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Yes (p=0.02)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inflated by weak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 FAIR baseline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−0.037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 (p=0.17)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win evaporates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 all bugs fixed (FINAL)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+0.003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No (p=0.94)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PARITY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Each step removed an artifact. The honest endpoint: AUDA neither beats nor harms a competent baseline.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Final Result — Statistical Parity</a:t>
            </a:r>
          </a:p>
        </p:txBody>
      </p:sp>
      <p:pic>
        <p:nvPicPr>
          <p:cNvPr id="4" name="Picture 3" descr="_c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7223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>
                <a:solidFill>
                  <a:srgbClr val="27AE60"/>
                </a:solidFill>
                <a:latin typeface="Calibri"/>
              </a:rPr>
              <a:t>•  RandomForest:  −0.001   (p = 0.29)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8E44AD"/>
                </a:solidFill>
                <a:latin typeface="Calibri"/>
              </a:rPr>
              <a:t>•  SVM:  +0.003   (p = 0.94)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1B263B"/>
                </a:solidFill>
                <a:latin typeface="Calibri"/>
              </a:rPr>
              <a:t>•  Both ≈ 0, neither significant.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1B263B"/>
                </a:solidFill>
                <a:latin typeface="Calibri"/>
              </a:rPr>
              <a:t>•  Across 32 datasets, 5 seeds.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1B263B"/>
                </a:solidFill>
                <a:latin typeface="Calibri"/>
              </a:rPr>
              <a:t>•  AUDA matches competent manual preprocessing — no significant difference.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Per-Dataset View — Mostly Parity</a:t>
            </a:r>
          </a:p>
        </p:txBody>
      </p:sp>
      <p:pic>
        <p:nvPicPr>
          <p:cNvPr id="4" name="Picture 3" descr="_c_per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25880"/>
            <a:ext cx="10149840" cy="52779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Most datasets sit at ~0 (parity). A few small wins/losses roughly cancel — no systematic advantage either 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Honest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46888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DCE6F2"/>
                </a:solidFill>
                <a:latin typeface="Calibri"/>
              </a:rPr>
              <a:t>"AUDA matches the performance of competent manual preprocessing — no statistically significant difference on tree or kernel models across 32 datasets — while requiring zero human effort."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800" b="1" i="0">
                <a:solidFill>
                  <a:srgbClr val="6EC6F0"/>
                </a:solidFill>
                <a:latin typeface="Calibri"/>
              </a:rPr>
              <a:t>AUDA does not beat a skilled analyst — but it equals one, automatically.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Methodology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900" b="0">
                <a:solidFill>
                  <a:srgbClr val="1B263B"/>
                </a:solidFill>
                <a:latin typeface="Calibri"/>
              </a:rPr>
              <a:t>•  Never trust a single train/test split — always multi-seed + a significance test.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1B263B"/>
                </a:solidFill>
                <a:latin typeface="Calibri"/>
              </a:rPr>
              <a:t>•  Your baseline must be fair — beating a deliberately weak baseline proves nothing.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1B263B"/>
                </a:solidFill>
                <a:latin typeface="Calibri"/>
              </a:rPr>
              <a:t>•  Validate your data — duplicates and mislabeled files silently corrupt results.</a:t>
            </a:r>
          </a:p>
          <a:p>
            <a:pPr>
              <a:spcAft>
                <a:spcPts val="1500"/>
              </a:spcAft>
            </a:pPr>
            <a:r>
              <a:rPr sz="1900" b="1">
                <a:solidFill>
                  <a:srgbClr val="27AE60"/>
                </a:solidFill>
                <a:latin typeface="Calibri"/>
              </a:rPr>
              <a:t>•  A neutral result, honestly obtained, beats an impressive result that can't survive scrutiny.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1B263B"/>
                </a:solidFill>
                <a:latin typeface="Calibri"/>
              </a:rPr>
              <a:t>•  Bugs can masquerade as 'findings' — the −0.35 'AUDA is destructive' was a label bug.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Future Work — How AUDA Could Actually Win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852160"/>
                <a:gridCol w="237744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Effort / payoff</a:t>
                      </a:r>
                    </a:p>
                  </a:txBody>
                  <a:tcPr marL="54864" marR="54864" marT="18288" marB="18288">
                    <a:solidFill>
                      <a:srgbClr val="1B263B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Feature creation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Datetime decomposition, CV target encoding, interactions — features the baseline can't make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High / only real upside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Validation-driven preprocessing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Try several preprocessing variants per dataset, keep best by CV (AutoML-style)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High / highest ceiling</a:t>
                      </a:r>
                    </a:p>
                  </a:txBody>
                  <a:tcPr marL="54864" marR="54864" marT="18288" marB="18288">
                    <a:solidFill>
                      <a:srgbClr val="ECF0F3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Apply LLM suggestions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Actually execute the LLM's feature ideas (currently report-only)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B263B"/>
                          </a:solidFill>
                          <a:latin typeface="Calibri"/>
                        </a:rPr>
                        <a:t>Medium / uncertain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F6B"/>
                </a:solidFill>
              </a:rPr>
              <a:t>Parity is already a complete, defensible result. These are paths to push AUDA from parity to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828800"/>
            <a:ext cx="9692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0">
                <a:solidFill>
                  <a:srgbClr val="27AE60"/>
                </a:solidFill>
              </a:rPr>
              <a:t>•  Built AUDA: automated EDA + preprocessing pipeline.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6EC6F0"/>
                </a:solidFill>
              </a:rPr>
              <a:t>•  Tested rigorously: 32 datasets, RF + SVM, 5 seeds, significance test, fair baseline.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E67E22"/>
                </a:solidFill>
              </a:rPr>
              <a:t>•  Found &amp; fixed 3 real bugs and corrupted datasets along the way.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FFFFFF"/>
                </a:solidFill>
              </a:rPr>
              <a:t>•  Result: AUDA achieves PARITY with competent manual preprocessing — automatically.</a:t>
            </a:r>
          </a:p>
          <a:p>
            <a:pPr>
              <a:spcAft>
                <a:spcPts val="1600"/>
              </a:spcAft>
            </a:pPr>
            <a:r>
              <a:rPr sz="1900" b="0">
                <a:solidFill>
                  <a:srgbClr val="6EC6F0"/>
                </a:solidFill>
              </a:rPr>
              <a:t>•  A credible, defensible thesis — and a clean path 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8A9BB5"/>
                </a:solidFill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